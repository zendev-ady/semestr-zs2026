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5" r:id="rId8"/>
    <p:sldId id="266" r:id="rId9"/>
    <p:sldId id="272" r:id="rId10"/>
    <p:sldId id="267" r:id="rId11"/>
    <p:sldId id="268" r:id="rId12"/>
    <p:sldId id="269" r:id="rId13"/>
    <p:sldId id="270" r:id="rId14"/>
    <p:sldId id="273" r:id="rId15"/>
    <p:sldId id="274" r:id="rId16"/>
    <p:sldId id="271" r:id="rId17"/>
    <p:sldId id="262" r:id="rId18"/>
    <p:sldId id="263" r:id="rId19"/>
    <p:sldId id="26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594360" y="246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0B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VŠE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44168" y="2926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70" dirty="0">
                <a:solidFill>
                  <a:srgbClr val="24364B"/>
                </a:solidFill>
              </a:rPr>
              <a:t>VYSOKÁ ŠKOLA EKONOMICKÁ V PRAZE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594360" y="647395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40080" y="65288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1BP403  |  Bankovnictví II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41832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083"/>
                </a:solidFill>
              </a:rPr>
              <a:t>© Petr Dvořák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17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46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50B5"/>
                </a:solidFill>
              </a:rPr>
              <a:t>VŠE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44168" y="2926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70" dirty="0">
                <a:solidFill>
                  <a:srgbClr val="24364B"/>
                </a:solidFill>
              </a:rPr>
              <a:t>VYSOKÁ ŠKOLA EKONOMICKÁ V PRAZE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594360" y="658368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6473952"/>
            <a:ext cx="1101852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52881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7083"/>
                </a:solidFill>
              </a:rPr>
              <a:t>1BP403  |  Bankovnictví II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418320" y="6528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37083"/>
                </a:solidFill>
              </a:rPr>
              <a:t>© Petr Dvořák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2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87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vorakp@vse.cz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dvorakp@vse.cz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1261872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30" dirty="0">
                <a:solidFill>
                  <a:srgbClr val="0050B5"/>
                </a:solidFill>
              </a:rPr>
              <a:t>CHARAKTERISTIKA PŘEDMĚTU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</a:rPr>
              <a:t>1BP403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251460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111827"/>
                </a:solidFill>
              </a:rPr>
              <a:t>BANKOVNICTVÍ II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731520" y="3401568"/>
            <a:ext cx="960120" cy="73152"/>
          </a:xfrm>
          <a:prstGeom prst="rect">
            <a:avLst/>
          </a:prstGeom>
          <a:solidFill>
            <a:srgbClr val="F3C300"/>
          </a:solidFill>
          <a:ln w="12700">
            <a:solidFill>
              <a:srgbClr val="F3C3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7726680" y="1298448"/>
            <a:ext cx="3685032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  <a:effectLst>
            <a:outerShdw blurRad="27940" dist="1397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7726680" y="1298448"/>
            <a:ext cx="109728" cy="3447288"/>
          </a:xfrm>
          <a:prstGeom prst="rect">
            <a:avLst/>
          </a:prstGeom>
          <a:solidFill>
            <a:srgbClr val="0050B5"/>
          </a:solidFill>
          <a:ln w="12700">
            <a:solidFill>
              <a:srgbClr val="0050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8065008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0050B5"/>
                </a:solidFill>
              </a:rPr>
              <a:t>VYUČUJÍCÍ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65008" y="2057400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</a:rPr>
              <a:t>Doc. Ing. Petr Dvořák, Ph.D.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065008" y="30632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4364B"/>
                </a:solidFill>
              </a:rPr>
              <a:t>Fakulta financí a účetnictví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5008" y="344728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536273"/>
                </a:solidFill>
              </a:rPr>
              <a:t>Vysoká škola ekonomická v Praze</a:t>
            </a:r>
            <a:endParaRPr lang="en-US" sz="132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8065008" y="39684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0050B5"/>
                </a:solidFill>
                <a:uFill>
                  <a:solidFill>
                    <a:srgbClr val="0050B5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dvorakp@vse.cz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Přednášející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KONTAKT A KONZULTAČNÍ HODINY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977640" cy="3520440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783080" y="2395728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</a:rPr>
              <a:t>PD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05840" y="41148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doc. ing. Petr Dvořák, Ph.D.</a:t>
            </a:r>
            <a:endParaRPr lang="en-US" sz="26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1234440" y="4846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dvorakp@vse.cz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74920" y="1874520"/>
            <a:ext cx="603504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5532120" y="2331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Konzultační hodiny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532120" y="2971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50B5"/>
                </a:solidFill>
              </a:rPr>
              <a:t>St 9.00–10.00  |  m. č. 161 n. b.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35021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36273"/>
                </a:solidFill>
              </a:rPr>
              <a:t>(Prosím, předem dohodnout přes email)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532120" y="409651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4364B"/>
                </a:solidFill>
              </a:rPr>
              <a:t>nebo po domluvě prostřednictvím MS Teams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32120" y="45994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36273"/>
                </a:solidFill>
              </a:rPr>
              <a:t>(případné změny v InSISu)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11827"/>
                </a:solidFill>
              </a:rPr>
              <a:t>Cíl</a:t>
            </a:r>
            <a:r>
              <a:rPr lang="en-US" sz="2500" b="1" dirty="0">
                <a:solidFill>
                  <a:srgbClr val="111827"/>
                </a:solidFill>
              </a:rPr>
              <a:t> </a:t>
            </a:r>
            <a:r>
              <a:rPr lang="en-US" sz="2500" b="1" dirty="0" err="1">
                <a:solidFill>
                  <a:srgbClr val="111827"/>
                </a:solidFill>
              </a:rPr>
              <a:t>předmětu</a:t>
            </a:r>
            <a:r>
              <a:rPr lang="cs-CZ" sz="2500" b="1" dirty="0">
                <a:solidFill>
                  <a:srgbClr val="111827"/>
                </a:solidFill>
              </a:rPr>
              <a:t> 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BANKOVNÍ RIZIKA A JEJICH ŘÍZENÍ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781812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7178040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>
              <a:buSzPct val="100000"/>
            </a:pPr>
            <a:r>
              <a:rPr lang="cs-CZ" sz="2500" b="1" dirty="0">
                <a:solidFill>
                  <a:srgbClr val="24364B"/>
                </a:solidFill>
              </a:rPr>
              <a:t>OBJASNIT</a:t>
            </a:r>
          </a:p>
          <a:p>
            <a:pPr>
              <a:buSzPct val="100000"/>
            </a:pPr>
            <a:endParaRPr lang="cs-CZ" sz="2500" b="1" dirty="0">
              <a:solidFill>
                <a:srgbClr val="24364B"/>
              </a:solidFill>
            </a:endParaRPr>
          </a:p>
          <a:p>
            <a:pPr marL="228600" indent="-228600">
              <a:buSzPct val="100000"/>
              <a:buChar char="•"/>
            </a:pPr>
            <a:r>
              <a:rPr lang="en-US" sz="2500" dirty="0" err="1">
                <a:solidFill>
                  <a:srgbClr val="24364B"/>
                </a:solidFill>
              </a:rPr>
              <a:t>Podstatu</a:t>
            </a:r>
            <a:r>
              <a:rPr lang="en-US" sz="2500" dirty="0">
                <a:solidFill>
                  <a:srgbClr val="24364B"/>
                </a:solidFill>
              </a:rPr>
              <a:t> bankovních rizik, jejich význam a dopad na banky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24364B"/>
                </a:solidFill>
              </a:rPr>
              <a:t>Podstatu přístupů k měření a řízení rizik v bankách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24364B"/>
                </a:solidFill>
              </a:rPr>
              <a:t>Podstatu a dopad základních nástrojů regulace bankovních rizik</a:t>
            </a:r>
            <a:endParaRPr lang="en-US" sz="2500" dirty="0"/>
          </a:p>
          <a:p>
            <a:pPr marL="228600" indent="-228600">
              <a:buSzPct val="100000"/>
              <a:buChar char="•"/>
            </a:pPr>
            <a:r>
              <a:rPr lang="en-US" sz="2500" dirty="0">
                <a:solidFill>
                  <a:srgbClr val="24364B"/>
                </a:solidFill>
              </a:rPr>
              <a:t>Dopad technologických změn na řízení banky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2011680"/>
            <a:ext cx="22402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7" name="Image 0" descr="/mnt/data/work/orig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055620"/>
            <a:ext cx="1874520" cy="1249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111827"/>
                </a:solidFill>
              </a:rPr>
              <a:t>Cíl</a:t>
            </a:r>
            <a:r>
              <a:rPr lang="en-US" sz="2500" b="1" dirty="0">
                <a:solidFill>
                  <a:srgbClr val="111827"/>
                </a:solidFill>
              </a:rPr>
              <a:t> </a:t>
            </a:r>
            <a:r>
              <a:rPr lang="en-US" sz="2500" b="1" dirty="0" err="1">
                <a:solidFill>
                  <a:srgbClr val="111827"/>
                </a:solidFill>
              </a:rPr>
              <a:t>předmětu</a:t>
            </a:r>
            <a:r>
              <a:rPr lang="cs-CZ" sz="2500" b="1" dirty="0">
                <a:solidFill>
                  <a:srgbClr val="111827"/>
                </a:solidFill>
              </a:rPr>
              <a:t> II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DERIVÁTY A AKTUÁLNÍ VÝVOJ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1046988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r>
              <a:rPr lang="cs-CZ" sz="2400" b="1" dirty="0">
                <a:solidFill>
                  <a:srgbClr val="24364B"/>
                </a:solidFill>
              </a:rPr>
              <a:t>OBJASNIT</a:t>
            </a:r>
          </a:p>
          <a:p>
            <a:endParaRPr lang="cs-CZ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973836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24364B"/>
                </a:solidFill>
              </a:rPr>
              <a:t>Podstatu derivátů jako významných instrumentů využívaných při řízení rizik (ale i jako zdrojů rizika)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24364B"/>
                </a:solidFill>
              </a:rPr>
              <a:t>Praktické využití derivátů k zajištění rizik i jako finanční investice (v tomto kontextu: přístupy k oceňování derivátů, obchodování derivátů, regulace derivátů)</a:t>
            </a:r>
            <a:endParaRPr lang="en-US" sz="2600" dirty="0"/>
          </a:p>
          <a:p>
            <a:pPr marL="228600" indent="-228600">
              <a:buSzPct val="100000"/>
              <a:buChar char="•"/>
            </a:pPr>
            <a:r>
              <a:rPr lang="en-US" sz="2600" dirty="0">
                <a:solidFill>
                  <a:srgbClr val="24364B"/>
                </a:solidFill>
              </a:rPr>
              <a:t>… a samozřejmě i aktuální vývoj v bankovnictví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Co vás chci naučit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VÝSTUPY Z UČENÍ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783080"/>
            <a:ext cx="7360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950976" y="193852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B5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36192" y="1883664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64B"/>
                </a:solidFill>
              </a:rPr>
              <a:t>Porozumět, z čeho, proč a jaká finanční rizika (nejen) pro banku vyplývají, jak je lze měřit a řídit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49808" y="2624328"/>
            <a:ext cx="7360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50976" y="277977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B5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6192" y="2724912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64B"/>
                </a:solidFill>
              </a:rPr>
              <a:t>Samostatně navrhnout, jak se lze pomocí derivátů proti rizikům zajistit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9808" y="3465576"/>
            <a:ext cx="7360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950976" y="362102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B5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36192" y="3566160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64B"/>
                </a:solidFill>
              </a:rPr>
              <a:t>Identifikovat rizika spojená s využitím derivátů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49808" y="4306824"/>
            <a:ext cx="7360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950976" y="44622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B5"/>
                </a:solidFill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36192" y="440740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64B"/>
                </a:solidFill>
              </a:rPr>
              <a:t>Porozumět v širších souvislostech, jak a proč jsou rizika bank regulována, a kriticky zhodnotit výhody a nevýhody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9808" y="5148072"/>
            <a:ext cx="7360920" cy="658368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950976" y="5303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0B5"/>
                </a:solidFill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36192" y="5248656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24364B"/>
                </a:solidFill>
              </a:rPr>
              <a:t>… a to vše v kontextu aktuálního vývoje a problémů v českém a světovém bankovnictví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339328" y="1783080"/>
            <a:ext cx="28803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20" name="Image 0" descr="/mnt/data/work/orig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767803"/>
            <a:ext cx="2560320" cy="205391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01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Bankovní bilance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struktura a obsah položek rozvahy, podrozvahy a výkazu zisku a ztrát banky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metody oceňování aktiv a pasiv bank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dopad regulačních opatření na strukturu a výši jednotlivých položek bilance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ukazatele z bilance a výkazu zisku ztrát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CHARAKTERISTIKA A DRUHY DERIVÁTŮ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příčiny vzniku a rozšíření finančních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vymezení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přehled a charakteristika jednotlivých druhů finančních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obecná podstata a možnosti využití finančních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základní princip ohodnocování finančních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vykazování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historický vývoj finančních derivátů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současný vývoj na trzích s finančními deriváty, role derivátů ve finanční krizi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03–05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Charakteristika bankovních rizik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charakteristika bankovních rizik, jejich příčiny a projevy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vzájemné vazby mezi bankovními riziky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důvody a způsoby regulace rizik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3401568"/>
            <a:ext cx="10469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969264" y="3584448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969264" y="37124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356616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Úrokové riziko, jeho měření a řízení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10512" y="4114800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metody GAP, durační metody, simulace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interpretace výsledků jednotlivých metod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výhody a nevýhody a praktické využití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4809744"/>
            <a:ext cx="104698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69264" y="4992624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969264" y="51206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10512" y="497433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Tržní riziko, jeho měření a řízení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810512" y="5522976"/>
            <a:ext cx="88696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tržního rizika, faktory determinující tržní riziko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metody VAR, interpretace výsledků, výhody a nevýhody, praktické využití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FORWARD RATE AGREEMENT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chování úrokových sazeb (jaké faktory ovlivňují úrok. sazby, jak ovlivňuje úrok. struktura FRA sazby)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FRA (podstatné náležitosti smlouvy)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odvození výše plnění vyplývajícího z FRA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odvození FRA sazby a tržní hodnoty FRA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využití FRA k zajištění proti úrokovému riziku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7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SWAPY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charakteristika a princip swapů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druhy swapů (aktivní a pasívní, úrokové, měnové, akciové, komoditní)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kombinace základních druhů a zvláštní druhy swapů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oceňování a ohodnocování swapů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možnosti využití (zajištění, spekulace, redukce nákladů na získání kapitálu, resp. dosažení dodatečných výnosů)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možnosti předčasného ukončení swapů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swapové kontrakty na burzách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08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FINANCIAL FUTURES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srovnání forward a futures obchodů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princip a průběh futures kontraktů, způsob obchodování a vypořádání, obchodní systémy významných burz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oceňování futures kontraktů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druhy futures kontraktů (úrokové, měnové, akciové, ostatní)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možnosti využití futures k zajištění a spekulaci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09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9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Finanční OPCE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opcí, srovnání s pevnými kontrakty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způsob obchodování s burzovními opcemi (zajištění short pozic)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základní opční pozice a jejich analýza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základy oceňování opcí (princip oceňovacích modelů, meze opčních prémií, put-call parita)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analýza nejvýznamnějších faktorů ovlivňujících opční prémii, řecké proměnné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druhy opcí podle bazických instrumentů (opce na akcie, index, měnu, futures, swaptions)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možnosti využití opcí k zajištění a spekulaci, srovnání využití opcí a pevných kontraktů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kombinace základních opčních pozic a opční strategie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exotické opce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úrokové opce – cap, floor, colllar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10–11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ESG rizika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charakteristika ESG rizik a ESG rizikových faktorů, příčiny jejich rostoucího významu v bankovnictví, aktuální přístupy bank a bankovních autorit hodnocení ESG rizik regulace ESG rizik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analýza ESG rizik z hlediska jejich vlivu na tržní riziko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odraz ESG faktorů do nabídky investičních produktů ze strany bank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4698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969264" y="4343400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969264" y="44714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11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4325112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Likvidita, její měření a řízení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10512" y="4873752"/>
            <a:ext cx="886968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a význam likvidity banky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druhy likvidity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metody měření a řízení likvidity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zdroje likvidity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přístupy k regulaci likvidity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12–13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12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Kreditní riziko, jeho měření a řízení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podstata, složky, přístupy k měření kreditního rizika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scoringu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modely měření kreditního rizika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regulace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1046988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969264" y="4343400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969264" y="44714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13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10512" y="4325112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Kreditní deriváty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10512" y="4873752"/>
            <a:ext cx="8869680" cy="11338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jednotlivých druhů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možnosti využití při řízení úvěrového rizika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Osnova předmětu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7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1BP403 BANKOVNICTVÍ II – ZS 2026/27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16367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53627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doc. Ing. Petr Dvořák Ph.D. /dvorakp@vse.cz/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6968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0050B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14 / 14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10469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5"/>
          <p:cNvSpPr/>
          <p:nvPr/>
        </p:nvSpPr>
        <p:spPr>
          <a:xfrm>
            <a:off x="969264" y="2176272"/>
            <a:ext cx="658368" cy="512064"/>
          </a:xfrm>
          <a:prstGeom prst="roundRect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9264" y="230428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215798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Kapitálové riziko, jeho měření a řízení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10512" y="2706624"/>
            <a:ext cx="8869680" cy="3300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podstata kapitálového rizika (rizika nesolventnosti)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vztah kapitálového rizika k ostatním rizikům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kapitálová přiměřenost – vymezení kapitálu, přístup k odvození kapitálových požadavků k jednotlivým rizikům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24364B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aktuální problémy kapitálové přiměřenosti, Basel III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637083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srgbClr val="637083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Doporučená literatura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ZDROJE PRO STUDIUM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537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1115568" y="2304288"/>
            <a:ext cx="457200" cy="457200"/>
          </a:xfrm>
          <a:prstGeom prst="ellipse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1115568" y="24231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24364B"/>
                </a:solidFill>
              </a:rPr>
              <a:t>Prezentace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115568" y="3246120"/>
            <a:ext cx="457200" cy="457200"/>
          </a:xfrm>
          <a:prstGeom prst="ellipse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1115568" y="33649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3273552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500" dirty="0">
                <a:solidFill>
                  <a:srgbClr val="24364B"/>
                </a:solidFill>
              </a:rPr>
              <a:t>Doporučená literatura u jednotlivých témat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1115568" y="4187952"/>
            <a:ext cx="457200" cy="457200"/>
          </a:xfrm>
          <a:prstGeom prst="ellipse">
            <a:avLst/>
          </a:prstGeom>
          <a:solidFill>
            <a:srgbClr val="0050B5"/>
          </a:solidFill>
          <a:ln w="12700">
            <a:solidFill>
              <a:srgbClr val="0050B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115568" y="430682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83080" y="4215384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4364B"/>
                </a:solidFill>
              </a:rPr>
              <a:t>Skripta Deriváty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635240" y="1828800"/>
            <a:ext cx="36118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pic>
        <p:nvPicPr>
          <p:cNvPr id="15" name="Image 0" descr="/mnt/data/work/orig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3004444"/>
            <a:ext cx="3063240" cy="15806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Způsob ukončení a hodnocení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ZPŮSOB OVĚŘENÍ A BODOVÉ HODNOCENÍ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0B5"/>
                </a:solidFill>
              </a:rPr>
              <a:t>Způsob ověření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52360" y="18288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0B5"/>
                </a:solidFill>
              </a:rPr>
              <a:t>Body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897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50B5"/>
                </a:solidFill>
              </a:rPr>
              <a:t>Celkem max. bodů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0469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960120" y="2587752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Zpracování a řádné odevzdání případové studie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64B"/>
                </a:solidFill>
              </a:rPr>
              <a:t>0–10 bodů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35440" y="25877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64B"/>
                </a:solidFill>
              </a:rPr>
              <a:t>10 bodů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10469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960120" y="3364992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4364B"/>
                </a:solidFill>
              </a:rPr>
              <a:t>Závěrečná písemná zkouška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3364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64B"/>
                </a:solidFill>
              </a:rPr>
              <a:t>0–90 bodů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35440" y="33649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64B"/>
                </a:solidFill>
              </a:rPr>
              <a:t>90 bodů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10469880" cy="658368"/>
          </a:xfrm>
          <a:prstGeom prst="rect">
            <a:avLst/>
          </a:prstGeom>
          <a:solidFill>
            <a:srgbClr val="EDF4FC"/>
          </a:solidFill>
          <a:ln w="1270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364B"/>
                </a:solidFill>
              </a:rPr>
              <a:t>Celkem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1520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0" y="41422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364B"/>
                </a:solidFill>
              </a:rPr>
              <a:t>100 bodů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10469880" cy="713232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F3C30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960120" y="5193792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A6500"/>
                </a:solidFill>
              </a:rPr>
              <a:t>Nutnou podmínkou pro psaní testu je řádné odevzdání případové studie!!!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13232" y="896112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11827"/>
                </a:solidFill>
              </a:rPr>
              <a:t>Způsob ukončení a hodnocení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31520" y="1389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50B5"/>
                </a:solidFill>
              </a:rPr>
              <a:t>KLASIFIKACE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0B5"/>
                </a:solidFill>
              </a:rPr>
              <a:t>Klasifikační stupeň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50B5"/>
                </a:solidFill>
              </a:rPr>
              <a:t>Odpovídající slovní hodnocení a zápis v indexu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18120" y="17830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0B5"/>
                </a:solidFill>
              </a:rPr>
              <a:t>Počet dosažených bodů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04698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1051560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64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34640" y="2551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výborně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26680" y="249631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90–100 bodů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044952"/>
            <a:ext cx="10469880" cy="548640"/>
          </a:xfrm>
          <a:prstGeom prst="rect">
            <a:avLst/>
          </a:prstGeom>
          <a:solidFill>
            <a:srgbClr val="EDF4FC"/>
          </a:solidFill>
          <a:ln w="1016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1051560" y="31729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64B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3172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velmi dobře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26680" y="311810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75–89 bodů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666744"/>
            <a:ext cx="104698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64B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834640" y="3794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dobře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26680" y="373989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60–74 bodů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4288536"/>
            <a:ext cx="10469880" cy="548640"/>
          </a:xfrm>
          <a:prstGeom prst="rect">
            <a:avLst/>
          </a:prstGeom>
          <a:solidFill>
            <a:srgbClr val="EDF4FC"/>
          </a:solidFill>
          <a:ln w="1016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1051560" y="4416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64B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34640" y="4416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nevyhověl(a)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436168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méně než 50 bodů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" y="4910328"/>
            <a:ext cx="104698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4" name="Text 22"/>
          <p:cNvSpPr/>
          <p:nvPr/>
        </p:nvSpPr>
        <p:spPr>
          <a:xfrm>
            <a:off x="1051560" y="5038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364B"/>
                </a:solidFill>
              </a:rPr>
              <a:t>4+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34640" y="5038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4364B"/>
                </a:solidFill>
              </a:rPr>
              <a:t>nevyhověl(a)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26680" y="498348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24364B"/>
                </a:solidFill>
              </a:rPr>
              <a:t>50–59 bodů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4364B"/>
                </a:solidFill>
              </a:rPr>
              <a:t>Student má možnost opakování.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" y="58064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62828"/>
                </a:solidFill>
              </a:rPr>
              <a:t>Omluvit předmět lze pouze ze závažných důvodů!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3708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1285</Words>
  <Application>Microsoft Office PowerPoint</Application>
  <PresentationFormat>Širokoúhlá obrazovka</PresentationFormat>
  <Paragraphs>257</Paragraphs>
  <Slides>18</Slides>
  <Notes>18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1_Office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Vysoká škola ekonomická v Praze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Petr Dvořák</dc:creator>
  <cp:lastModifiedBy>Petr Dvořák</cp:lastModifiedBy>
  <cp:revision>5</cp:revision>
  <dcterms:created xsi:type="dcterms:W3CDTF">2026-09-22T23:19:03Z</dcterms:created>
  <dcterms:modified xsi:type="dcterms:W3CDTF">2026-09-23T08:54:27Z</dcterms:modified>
</cp:coreProperties>
</file>